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https://github.com/iammanoj-dev/mutual-fund-analysis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23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583504"/>
            <a:ext cx="9445523" cy="267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Mutual Fund Analytics and Investment Insights Platform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599957"/>
            <a:ext cx="9445523" cy="208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End-to-End Data Analytics &amp; Financial Intelligence Solution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Author: Manoj BM - Data Analyst Intern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GitHub: </a:t>
            </a:r>
            <a:r>
              <a:rPr lang="en-US" sz="2200" u="sng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  <a:hlinkClick r:id="rId6" tooltip="https://github.com/iammanoj-dev/mutual-fund-analysis"/>
              </a:rPr>
              <a:t>github.com/iammanoj-dev/mutual-fund-analysis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88326" y="721814"/>
            <a:ext cx="6230541" cy="693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Problem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83563" y="1783852"/>
            <a:ext cx="4669631" cy="2776242"/>
            <a:chOff x="0" y="0"/>
            <a:chExt cx="6226175" cy="37016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26175" cy="3701669"/>
            </a:xfrm>
            <a:custGeom>
              <a:avLst/>
              <a:gdLst/>
              <a:ahLst/>
              <a:cxnLst/>
              <a:rect r="r" b="b" t="t" l="l"/>
              <a:pathLst>
                <a:path h="3701669" w="6226175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6076823" y="0"/>
                  </a:lnTo>
                  <a:cubicBezTo>
                    <a:pt x="6159373" y="0"/>
                    <a:pt x="6226175" y="66929"/>
                    <a:pt x="6226175" y="149352"/>
                  </a:cubicBezTo>
                  <a:lnTo>
                    <a:pt x="6226175" y="3552317"/>
                  </a:lnTo>
                  <a:cubicBezTo>
                    <a:pt x="6226175" y="3634867"/>
                    <a:pt x="6159246" y="3701669"/>
                    <a:pt x="6076823" y="3701669"/>
                  </a:cubicBezTo>
                  <a:lnTo>
                    <a:pt x="149352" y="3701669"/>
                  </a:lnTo>
                  <a:cubicBezTo>
                    <a:pt x="66929" y="3701669"/>
                    <a:pt x="0" y="3634740"/>
                    <a:pt x="0" y="3552317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063655" y="2054419"/>
            <a:ext cx="3636169" cy="42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Evaluation Complexity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63655" y="2562073"/>
            <a:ext cx="4109437" cy="130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Investors struggle to compare funds across large volumes of NAV and transaction data.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692805" y="1783852"/>
            <a:ext cx="4669631" cy="2776242"/>
            <a:chOff x="0" y="0"/>
            <a:chExt cx="6226175" cy="37016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26175" cy="3701669"/>
            </a:xfrm>
            <a:custGeom>
              <a:avLst/>
              <a:gdLst/>
              <a:ahLst/>
              <a:cxnLst/>
              <a:rect r="r" b="b" t="t" l="l"/>
              <a:pathLst>
                <a:path h="3701669" w="6226175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6076823" y="0"/>
                  </a:lnTo>
                  <a:cubicBezTo>
                    <a:pt x="6159373" y="0"/>
                    <a:pt x="6226175" y="66929"/>
                    <a:pt x="6226175" y="149352"/>
                  </a:cubicBezTo>
                  <a:lnTo>
                    <a:pt x="6226175" y="3552317"/>
                  </a:lnTo>
                  <a:cubicBezTo>
                    <a:pt x="6226175" y="3634867"/>
                    <a:pt x="6159246" y="3701669"/>
                    <a:pt x="6076823" y="3701669"/>
                  </a:cubicBezTo>
                  <a:lnTo>
                    <a:pt x="149352" y="3701669"/>
                  </a:lnTo>
                  <a:cubicBezTo>
                    <a:pt x="66929" y="3701669"/>
                    <a:pt x="0" y="3634740"/>
                    <a:pt x="0" y="3552317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972898" y="2054419"/>
            <a:ext cx="4109437" cy="84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Manual Analysis Limitations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72898" y="2977458"/>
            <a:ext cx="4109437" cy="130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Manual methods are slow, error-prone and don't scale for cross-scheme comparisons.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783563" y="4799705"/>
            <a:ext cx="4669631" cy="2776242"/>
            <a:chOff x="0" y="0"/>
            <a:chExt cx="6226175" cy="37016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26175" cy="3701669"/>
            </a:xfrm>
            <a:custGeom>
              <a:avLst/>
              <a:gdLst/>
              <a:ahLst/>
              <a:cxnLst/>
              <a:rect r="r" b="b" t="t" l="l"/>
              <a:pathLst>
                <a:path h="3701669" w="6226175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6076823" y="0"/>
                  </a:lnTo>
                  <a:cubicBezTo>
                    <a:pt x="6159373" y="0"/>
                    <a:pt x="6226175" y="66929"/>
                    <a:pt x="6226175" y="149352"/>
                  </a:cubicBezTo>
                  <a:lnTo>
                    <a:pt x="6226175" y="3552317"/>
                  </a:lnTo>
                  <a:cubicBezTo>
                    <a:pt x="6226175" y="3634867"/>
                    <a:pt x="6159246" y="3701669"/>
                    <a:pt x="6076823" y="3701669"/>
                  </a:cubicBezTo>
                  <a:lnTo>
                    <a:pt x="149352" y="3701669"/>
                  </a:lnTo>
                  <a:cubicBezTo>
                    <a:pt x="66929" y="3701669"/>
                    <a:pt x="0" y="3634740"/>
                    <a:pt x="0" y="3552317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063655" y="5070281"/>
            <a:ext cx="4109437" cy="84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Need Risk-Adjusted Metrics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63655" y="5993311"/>
            <a:ext cx="4109437" cy="130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Standard returns miss downside risk — requires Sharpe, Sortino, VaR and drawdown analysis.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692805" y="4799705"/>
            <a:ext cx="4669631" cy="2776242"/>
            <a:chOff x="0" y="0"/>
            <a:chExt cx="6226175" cy="3701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26175" cy="3701669"/>
            </a:xfrm>
            <a:custGeom>
              <a:avLst/>
              <a:gdLst/>
              <a:ahLst/>
              <a:cxnLst/>
              <a:rect r="r" b="b" t="t" l="l"/>
              <a:pathLst>
                <a:path h="3701669" w="6226175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6076823" y="0"/>
                  </a:lnTo>
                  <a:cubicBezTo>
                    <a:pt x="6159373" y="0"/>
                    <a:pt x="6226175" y="66929"/>
                    <a:pt x="6226175" y="149352"/>
                  </a:cubicBezTo>
                  <a:lnTo>
                    <a:pt x="6226175" y="3552317"/>
                  </a:lnTo>
                  <a:cubicBezTo>
                    <a:pt x="6226175" y="3634867"/>
                    <a:pt x="6159246" y="3701669"/>
                    <a:pt x="6076823" y="3701669"/>
                  </a:cubicBezTo>
                  <a:lnTo>
                    <a:pt x="149352" y="3701669"/>
                  </a:lnTo>
                  <a:cubicBezTo>
                    <a:pt x="66929" y="3701669"/>
                    <a:pt x="0" y="3634740"/>
                    <a:pt x="0" y="3552317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972898" y="5070281"/>
            <a:ext cx="3322587" cy="42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Actionable Insights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72898" y="5577926"/>
            <a:ext cx="4109437" cy="130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Investors need clear, interpretable recommendations aligned to risk appetite.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788326" y="7851429"/>
            <a:ext cx="9569348" cy="1404938"/>
            <a:chOff x="0" y="0"/>
            <a:chExt cx="12759131" cy="1873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59182" cy="1873250"/>
            </a:xfrm>
            <a:custGeom>
              <a:avLst/>
              <a:gdLst/>
              <a:ahLst/>
              <a:cxnLst/>
              <a:rect r="r" b="b" t="t" l="l"/>
              <a:pathLst>
                <a:path h="1873250" w="12759182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12610338" y="0"/>
                  </a:lnTo>
                  <a:cubicBezTo>
                    <a:pt x="12692507" y="0"/>
                    <a:pt x="12759182" y="66675"/>
                    <a:pt x="12759182" y="148844"/>
                  </a:cubicBezTo>
                  <a:lnTo>
                    <a:pt x="12759182" y="1724406"/>
                  </a:lnTo>
                  <a:cubicBezTo>
                    <a:pt x="12759182" y="1806575"/>
                    <a:pt x="12692507" y="1873250"/>
                    <a:pt x="12610338" y="1873250"/>
                  </a:cubicBezTo>
                  <a:lnTo>
                    <a:pt x="148844" y="1873250"/>
                  </a:lnTo>
                  <a:cubicBezTo>
                    <a:pt x="66675" y="1873250"/>
                    <a:pt x="0" y="1806575"/>
                    <a:pt x="0" y="1724406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054130" y="8227219"/>
            <a:ext cx="332184" cy="265805"/>
            <a:chOff x="0" y="0"/>
            <a:chExt cx="442912" cy="35440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442849" cy="354457"/>
            </a:xfrm>
            <a:custGeom>
              <a:avLst/>
              <a:gdLst/>
              <a:ahLst/>
              <a:cxnLst/>
              <a:rect r="r" b="b" t="t" l="l"/>
              <a:pathLst>
                <a:path h="354457" w="442849">
                  <a:moveTo>
                    <a:pt x="0" y="0"/>
                  </a:moveTo>
                  <a:lnTo>
                    <a:pt x="442849" y="0"/>
                  </a:lnTo>
                  <a:lnTo>
                    <a:pt x="442849" y="354457"/>
                  </a:lnTo>
                  <a:lnTo>
                    <a:pt x="0" y="354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25" b="14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652119" y="8075266"/>
            <a:ext cx="8439750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Speaker note: Emphasise the gap between raw data availability and usable investment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6760" y="974674"/>
            <a:ext cx="6496345" cy="71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6760" y="2240909"/>
            <a:ext cx="841619" cy="841619"/>
            <a:chOff x="0" y="0"/>
            <a:chExt cx="1122159" cy="112215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22172" cy="1122172"/>
            </a:xfrm>
            <a:custGeom>
              <a:avLst/>
              <a:gdLst/>
              <a:ahLst/>
              <a:cxnLst/>
              <a:rect r="r" b="b" t="t" l="l"/>
              <a:pathLst>
                <a:path h="1122172" w="1122172">
                  <a:moveTo>
                    <a:pt x="0" y="0"/>
                  </a:moveTo>
                  <a:lnTo>
                    <a:pt x="1122172" y="0"/>
                  </a:lnTo>
                  <a:lnTo>
                    <a:pt x="1122172" y="1122172"/>
                  </a:lnTo>
                  <a:lnTo>
                    <a:pt x="0" y="1122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61727" y="2231384"/>
            <a:ext cx="2641102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Automated ETL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61727" y="2765527"/>
            <a:ext cx="2641102" cy="229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Ingest raw NAVs &amp; transactions, schedule processing and persist to SQLite.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46177" y="2240909"/>
            <a:ext cx="841619" cy="841619"/>
            <a:chOff x="0" y="0"/>
            <a:chExt cx="1122159" cy="112215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22172" cy="1122172"/>
            </a:xfrm>
            <a:custGeom>
              <a:avLst/>
              <a:gdLst/>
              <a:ahLst/>
              <a:cxnLst/>
              <a:rect r="r" b="b" t="t" l="l"/>
              <a:pathLst>
                <a:path h="1122172" w="1122172">
                  <a:moveTo>
                    <a:pt x="0" y="0"/>
                  </a:moveTo>
                  <a:lnTo>
                    <a:pt x="1122172" y="0"/>
                  </a:lnTo>
                  <a:lnTo>
                    <a:pt x="1122172" y="1122172"/>
                  </a:lnTo>
                  <a:lnTo>
                    <a:pt x="0" y="1122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331144" y="2231384"/>
            <a:ext cx="2641102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Quality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31144" y="2765527"/>
            <a:ext cx="2641102" cy="229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Validate, normalise dates, handle missing NAVs and standardise scheme identifiers.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15602" y="2240909"/>
            <a:ext cx="841619" cy="841619"/>
            <a:chOff x="0" y="0"/>
            <a:chExt cx="1122159" cy="112215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122172" cy="1122172"/>
            </a:xfrm>
            <a:custGeom>
              <a:avLst/>
              <a:gdLst/>
              <a:ahLst/>
              <a:cxnLst/>
              <a:rect r="r" b="b" t="t" l="l"/>
              <a:pathLst>
                <a:path h="1122172" w="1122172">
                  <a:moveTo>
                    <a:pt x="0" y="0"/>
                  </a:moveTo>
                  <a:lnTo>
                    <a:pt x="1122172" y="0"/>
                  </a:lnTo>
                  <a:lnTo>
                    <a:pt x="1122172" y="1122172"/>
                  </a:lnTo>
                  <a:lnTo>
                    <a:pt x="0" y="1122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500570" y="2231384"/>
            <a:ext cx="2641102" cy="88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Management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00570" y="3201591"/>
            <a:ext cx="2641102" cy="229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Efficient storage and schema design for analytics workflows and reproducibility.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85019" y="2240909"/>
            <a:ext cx="841619" cy="841619"/>
            <a:chOff x="0" y="0"/>
            <a:chExt cx="1122159" cy="1122159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22172" cy="1122172"/>
            </a:xfrm>
            <a:custGeom>
              <a:avLst/>
              <a:gdLst/>
              <a:ahLst/>
              <a:cxnLst/>
              <a:rect r="r" b="b" t="t" l="l"/>
              <a:pathLst>
                <a:path h="1122172" w="1122172">
                  <a:moveTo>
                    <a:pt x="0" y="0"/>
                  </a:moveTo>
                  <a:lnTo>
                    <a:pt x="1122172" y="0"/>
                  </a:lnTo>
                  <a:lnTo>
                    <a:pt x="1122172" y="1122172"/>
                  </a:lnTo>
                  <a:lnTo>
                    <a:pt x="0" y="1122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669986" y="2231384"/>
            <a:ext cx="2641254" cy="88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Analytics &amp; Dashboards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9986" y="3201591"/>
            <a:ext cx="2641254" cy="229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Exploratory and performance analytics surfaced in Tableau for stakeholder review.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76760" y="6041822"/>
            <a:ext cx="841619" cy="841619"/>
            <a:chOff x="0" y="0"/>
            <a:chExt cx="1122159" cy="1122159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122172" cy="1122172"/>
            </a:xfrm>
            <a:custGeom>
              <a:avLst/>
              <a:gdLst/>
              <a:ahLst/>
              <a:cxnLst/>
              <a:rect r="r" b="b" t="t" l="l"/>
              <a:pathLst>
                <a:path h="1122172" w="1122172">
                  <a:moveTo>
                    <a:pt x="0" y="0"/>
                  </a:moveTo>
                  <a:lnTo>
                    <a:pt x="1122172" y="0"/>
                  </a:lnTo>
                  <a:lnTo>
                    <a:pt x="1122172" y="1122172"/>
                  </a:lnTo>
                  <a:lnTo>
                    <a:pt x="0" y="1122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161727" y="6032297"/>
            <a:ext cx="2641102" cy="88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Advanced Analytics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61727" y="7002513"/>
            <a:ext cx="2641102" cy="229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Compute Sharpe, Sortino, VaR, CVaR, rolling metrics and concentration measures (HHI).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146177" y="6041822"/>
            <a:ext cx="841619" cy="841619"/>
            <a:chOff x="0" y="0"/>
            <a:chExt cx="1122159" cy="1122159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122172" cy="1122172"/>
            </a:xfrm>
            <a:custGeom>
              <a:avLst/>
              <a:gdLst/>
              <a:ahLst/>
              <a:cxnLst/>
              <a:rect r="r" b="b" t="t" l="l"/>
              <a:pathLst>
                <a:path h="1122172" w="1122172">
                  <a:moveTo>
                    <a:pt x="0" y="0"/>
                  </a:moveTo>
                  <a:lnTo>
                    <a:pt x="1122172" y="0"/>
                  </a:lnTo>
                  <a:lnTo>
                    <a:pt x="1122172" y="1122172"/>
                  </a:lnTo>
                  <a:lnTo>
                    <a:pt x="0" y="1122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1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331144" y="6032297"/>
            <a:ext cx="2641102" cy="88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Recommendation Engine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31144" y="7002513"/>
            <a:ext cx="2641102" cy="229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Rule-based fund recommendations mapped to Low / Moderate / High risk profiles.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83141" y="600818"/>
            <a:ext cx="6559153" cy="44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 Sources &amp; Dataset Overview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3183141" y="1318470"/>
            <a:ext cx="431902" cy="431902"/>
          </a:xfrm>
          <a:custGeom>
            <a:avLst/>
            <a:gdLst/>
            <a:ahLst/>
            <a:cxnLst/>
            <a:rect r="r" b="b" t="t" l="l"/>
            <a:pathLst>
              <a:path h="431902" w="431902">
                <a:moveTo>
                  <a:pt x="0" y="0"/>
                </a:moveTo>
                <a:lnTo>
                  <a:pt x="431901" y="0"/>
                </a:lnTo>
                <a:lnTo>
                  <a:pt x="431901" y="431901"/>
                </a:lnTo>
                <a:lnTo>
                  <a:pt x="0" y="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9565" t="0" r="-1956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83141" y="1872405"/>
            <a:ext cx="2159641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NAV History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83141" y="2247452"/>
            <a:ext cx="5750128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Daily NAVs per scheme — price history and missing-value flags.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3183141" y="2689774"/>
            <a:ext cx="431902" cy="431902"/>
          </a:xfrm>
          <a:custGeom>
            <a:avLst/>
            <a:gdLst/>
            <a:ahLst/>
            <a:cxnLst/>
            <a:rect r="r" b="b" t="t" l="l"/>
            <a:pathLst>
              <a:path h="431902" w="431902">
                <a:moveTo>
                  <a:pt x="0" y="0"/>
                </a:moveTo>
                <a:lnTo>
                  <a:pt x="431901" y="0"/>
                </a:lnTo>
                <a:lnTo>
                  <a:pt x="431901" y="431902"/>
                </a:lnTo>
                <a:lnTo>
                  <a:pt x="0" y="431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087" r="0" b="-108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83141" y="3243710"/>
            <a:ext cx="2288972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Investor Transactions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3141" y="3618757"/>
            <a:ext cx="5750128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SIP/STP lumpsum transactions and folio-level flows.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3183141" y="4061069"/>
            <a:ext cx="431902" cy="431902"/>
          </a:xfrm>
          <a:custGeom>
            <a:avLst/>
            <a:gdLst/>
            <a:ahLst/>
            <a:cxnLst/>
            <a:rect r="r" b="b" t="t" l="l"/>
            <a:pathLst>
              <a:path h="431902" w="431902">
                <a:moveTo>
                  <a:pt x="0" y="0"/>
                </a:moveTo>
                <a:lnTo>
                  <a:pt x="431901" y="0"/>
                </a:lnTo>
                <a:lnTo>
                  <a:pt x="431901" y="431902"/>
                </a:lnTo>
                <a:lnTo>
                  <a:pt x="0" y="4319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346" t="0" r="-434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83141" y="4615015"/>
            <a:ext cx="2281685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Scheme Performance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83141" y="4990062"/>
            <a:ext cx="5750128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Pre-computed returns, AUM snapshots and category metadata.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3183141" y="5432374"/>
            <a:ext cx="431902" cy="431902"/>
          </a:xfrm>
          <a:custGeom>
            <a:avLst/>
            <a:gdLst/>
            <a:ahLst/>
            <a:cxnLst/>
            <a:rect r="r" b="b" t="t" l="l"/>
            <a:pathLst>
              <a:path h="431902" w="431902">
                <a:moveTo>
                  <a:pt x="0" y="0"/>
                </a:moveTo>
                <a:lnTo>
                  <a:pt x="431901" y="0"/>
                </a:lnTo>
                <a:lnTo>
                  <a:pt x="431901" y="431902"/>
                </a:lnTo>
                <a:lnTo>
                  <a:pt x="0" y="4319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1738" r="0" b="-2174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183141" y="5986310"/>
            <a:ext cx="2159641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Benchmark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83141" y="6361357"/>
            <a:ext cx="5750128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Index series for relative performance and alpha/beta estimation.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3183141" y="6803679"/>
            <a:ext cx="431902" cy="431902"/>
          </a:xfrm>
          <a:custGeom>
            <a:avLst/>
            <a:gdLst/>
            <a:ahLst/>
            <a:cxnLst/>
            <a:rect r="r" b="b" t="t" l="l"/>
            <a:pathLst>
              <a:path h="431902" w="431902">
                <a:moveTo>
                  <a:pt x="0" y="0"/>
                </a:moveTo>
                <a:lnTo>
                  <a:pt x="431901" y="0"/>
                </a:lnTo>
                <a:lnTo>
                  <a:pt x="431901" y="431902"/>
                </a:lnTo>
                <a:lnTo>
                  <a:pt x="0" y="4319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174" t="0" r="-217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183141" y="7357615"/>
            <a:ext cx="2159641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Portfolio Holdings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83141" y="7732662"/>
            <a:ext cx="5750128" cy="45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Sector &amp; security weights used for concentration and HHI calculations.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3183141" y="8397326"/>
            <a:ext cx="431902" cy="431902"/>
          </a:xfrm>
          <a:custGeom>
            <a:avLst/>
            <a:gdLst/>
            <a:ahLst/>
            <a:cxnLst/>
            <a:rect r="r" b="b" t="t" l="l"/>
            <a:pathLst>
              <a:path h="431902" w="431902">
                <a:moveTo>
                  <a:pt x="0" y="0"/>
                </a:moveTo>
                <a:lnTo>
                  <a:pt x="431901" y="0"/>
                </a:lnTo>
                <a:lnTo>
                  <a:pt x="431901" y="431901"/>
                </a:lnTo>
                <a:lnTo>
                  <a:pt x="0" y="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183141" y="8951271"/>
            <a:ext cx="2159641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Fund Master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83141" y="9326318"/>
            <a:ext cx="5750128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Scheme identifiers, fund house, category and launch dates.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58823" y="4247855"/>
            <a:ext cx="4761014" cy="2697804"/>
            <a:chOff x="0" y="0"/>
            <a:chExt cx="6348019" cy="3597072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6347968" cy="3597021"/>
            </a:xfrm>
            <a:custGeom>
              <a:avLst/>
              <a:gdLst/>
              <a:ahLst/>
              <a:cxnLst/>
              <a:rect r="r" b="b" t="t" l="l"/>
              <a:pathLst>
                <a:path h="3597021" w="6347968">
                  <a:moveTo>
                    <a:pt x="0" y="0"/>
                  </a:moveTo>
                  <a:lnTo>
                    <a:pt x="6347968" y="0"/>
                  </a:lnTo>
                  <a:lnTo>
                    <a:pt x="6347968" y="3597021"/>
                  </a:lnTo>
                  <a:lnTo>
                    <a:pt x="0" y="3597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57" t="0" r="-57" b="-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695" y="691458"/>
            <a:ext cx="9115130" cy="68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Architecture &amp;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2561" y="1855441"/>
            <a:ext cx="16322878" cy="7038823"/>
            <a:chOff x="0" y="0"/>
            <a:chExt cx="21763838" cy="938509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763862" cy="9385046"/>
            </a:xfrm>
            <a:custGeom>
              <a:avLst/>
              <a:gdLst/>
              <a:ahLst/>
              <a:cxnLst/>
              <a:rect r="r" b="b" t="t" l="l"/>
              <a:pathLst>
                <a:path h="9385046" w="21763862">
                  <a:moveTo>
                    <a:pt x="0" y="0"/>
                  </a:moveTo>
                  <a:lnTo>
                    <a:pt x="21763862" y="0"/>
                  </a:lnTo>
                  <a:lnTo>
                    <a:pt x="21763862" y="9385046"/>
                  </a:lnTo>
                  <a:lnTo>
                    <a:pt x="0" y="9385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080898" y="7540390"/>
            <a:ext cx="3873370" cy="48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Analyze &amp;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80898" y="5911015"/>
            <a:ext cx="3703120" cy="48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Store &amp; Explore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80898" y="4298099"/>
            <a:ext cx="3703120" cy="48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Clean &amp; Validate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80898" y="2668724"/>
            <a:ext cx="3703120" cy="48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Ingest CSV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695" y="9098604"/>
            <a:ext cx="17373000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Key technologies: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Python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(scripts &amp; modules),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Pandas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NumPy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SQLite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Tableau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GitHub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version control and reproducibility.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41674" y="475659"/>
            <a:ext cx="5908624" cy="40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Exploratory Data Analysis (EDA)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641674" y="1119188"/>
            <a:ext cx="5307806" cy="2842317"/>
            <a:chOff x="0" y="0"/>
            <a:chExt cx="7077075" cy="378975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077075" cy="3789807"/>
            </a:xfrm>
            <a:custGeom>
              <a:avLst/>
              <a:gdLst/>
              <a:ahLst/>
              <a:cxnLst/>
              <a:rect r="r" b="b" t="t" l="l"/>
              <a:pathLst>
                <a:path h="3789807" w="7077075">
                  <a:moveTo>
                    <a:pt x="0" y="0"/>
                  </a:moveTo>
                  <a:lnTo>
                    <a:pt x="7077075" y="0"/>
                  </a:lnTo>
                  <a:lnTo>
                    <a:pt x="7077075" y="3789807"/>
                  </a:lnTo>
                  <a:lnTo>
                    <a:pt x="0" y="3789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5" t="0" r="-45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641674" y="4052887"/>
            <a:ext cx="6222206" cy="20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CATEGORY INFLOW HEATMAP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641674" y="4362745"/>
            <a:ext cx="5307806" cy="5057927"/>
            <a:chOff x="0" y="0"/>
            <a:chExt cx="7077075" cy="674390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77075" cy="6743954"/>
            </a:xfrm>
            <a:custGeom>
              <a:avLst/>
              <a:gdLst/>
              <a:ahLst/>
              <a:cxnLst/>
              <a:rect r="r" b="b" t="t" l="l"/>
              <a:pathLst>
                <a:path h="6743954" w="7077075">
                  <a:moveTo>
                    <a:pt x="0" y="0"/>
                  </a:moveTo>
                  <a:lnTo>
                    <a:pt x="7077075" y="0"/>
                  </a:lnTo>
                  <a:lnTo>
                    <a:pt x="7077075" y="6743954"/>
                  </a:lnTo>
                  <a:lnTo>
                    <a:pt x="0" y="6743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" r="0" b="-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641674" y="9512056"/>
            <a:ext cx="6222206" cy="20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INVESTOR AGE GROUP DISTRIBUTION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48045" y="2058143"/>
            <a:ext cx="4394749" cy="1032720"/>
            <a:chOff x="0" y="0"/>
            <a:chExt cx="5859666" cy="137695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859653" cy="1376934"/>
            </a:xfrm>
            <a:custGeom>
              <a:avLst/>
              <a:gdLst/>
              <a:ahLst/>
              <a:cxnLst/>
              <a:rect r="r" b="b" t="t" l="l"/>
              <a:pathLst>
                <a:path h="1376934" w="5859653">
                  <a:moveTo>
                    <a:pt x="0" y="0"/>
                  </a:moveTo>
                  <a:lnTo>
                    <a:pt x="5859653" y="0"/>
                  </a:lnTo>
                  <a:lnTo>
                    <a:pt x="5859653" y="1376934"/>
                  </a:lnTo>
                  <a:lnTo>
                    <a:pt x="0" y="1376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2" t="0" r="-153" b="-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348045" y="3182245"/>
            <a:ext cx="5307806" cy="40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Fund House Analysis:</a:t>
            </a:r>
            <a:r>
              <a:rPr lang="en-US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Concentration among top 10 houses; long tail of smaller managers.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48045" y="3691528"/>
            <a:ext cx="5307806" cy="4590602"/>
            <a:chOff x="0" y="0"/>
            <a:chExt cx="7077075" cy="6120803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077075" cy="6120765"/>
            </a:xfrm>
            <a:custGeom>
              <a:avLst/>
              <a:gdLst/>
              <a:ahLst/>
              <a:cxnLst/>
              <a:rect r="r" b="b" t="t" l="l"/>
              <a:pathLst>
                <a:path h="6120765" w="7077075">
                  <a:moveTo>
                    <a:pt x="0" y="0"/>
                  </a:moveTo>
                  <a:lnTo>
                    <a:pt x="7077075" y="0"/>
                  </a:lnTo>
                  <a:lnTo>
                    <a:pt x="7077075" y="6120765"/>
                  </a:lnTo>
                  <a:lnTo>
                    <a:pt x="0" y="6120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7" r="0" b="-27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348045" y="8373513"/>
            <a:ext cx="5307806" cy="40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Scheme Distribution:</a:t>
            </a:r>
            <a:r>
              <a:rPr lang="en-US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Equity-dominant universe with sizeable debt allocation in conservative portfolios.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8261" y="721671"/>
            <a:ext cx="6489354" cy="63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Performance Analytics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3973" y="2160089"/>
            <a:ext cx="3906593" cy="2302516"/>
            <a:chOff x="0" y="0"/>
            <a:chExt cx="5208791" cy="30700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08778" cy="3070098"/>
            </a:xfrm>
            <a:custGeom>
              <a:avLst/>
              <a:gdLst/>
              <a:ahLst/>
              <a:cxnLst/>
              <a:rect r="r" b="b" t="t" l="l"/>
              <a:pathLst>
                <a:path h="3070098" w="5208778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lnTo>
                    <a:pt x="5068062" y="0"/>
                  </a:lnTo>
                  <a:cubicBezTo>
                    <a:pt x="5145786" y="0"/>
                    <a:pt x="5208778" y="62992"/>
                    <a:pt x="5208778" y="140716"/>
                  </a:cubicBezTo>
                  <a:lnTo>
                    <a:pt x="5208778" y="2929382"/>
                  </a:lnTo>
                  <a:cubicBezTo>
                    <a:pt x="5208778" y="3007106"/>
                    <a:pt x="5145786" y="3070098"/>
                    <a:pt x="5068062" y="3070098"/>
                  </a:cubicBezTo>
                  <a:lnTo>
                    <a:pt x="140716" y="3070098"/>
                  </a:lnTo>
                  <a:cubicBezTo>
                    <a:pt x="62992" y="3069971"/>
                    <a:pt x="0" y="3007106"/>
                    <a:pt x="0" y="2929382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144791" y="2441381"/>
            <a:ext cx="310113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CAGR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4791" y="2998441"/>
            <a:ext cx="3324968" cy="1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Annualised return over chosen horizon — baseline performance metric.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948980" y="2160089"/>
            <a:ext cx="3906736" cy="2302516"/>
            <a:chOff x="0" y="0"/>
            <a:chExt cx="5208981" cy="30700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09032" cy="3070098"/>
            </a:xfrm>
            <a:custGeom>
              <a:avLst/>
              <a:gdLst/>
              <a:ahLst/>
              <a:cxnLst/>
              <a:rect r="r" b="b" t="t" l="l"/>
              <a:pathLst>
                <a:path h="3070098" w="52090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lnTo>
                    <a:pt x="5068316" y="0"/>
                  </a:lnTo>
                  <a:cubicBezTo>
                    <a:pt x="5146040" y="0"/>
                    <a:pt x="5209032" y="62992"/>
                    <a:pt x="5209032" y="140716"/>
                  </a:cubicBezTo>
                  <a:lnTo>
                    <a:pt x="5209032" y="2929382"/>
                  </a:lnTo>
                  <a:cubicBezTo>
                    <a:pt x="5209032" y="3007106"/>
                    <a:pt x="5146040" y="3070098"/>
                    <a:pt x="5068316" y="3070098"/>
                  </a:cubicBezTo>
                  <a:lnTo>
                    <a:pt x="140716" y="3070098"/>
                  </a:lnTo>
                  <a:cubicBezTo>
                    <a:pt x="62992" y="3069971"/>
                    <a:pt x="0" y="3007106"/>
                    <a:pt x="0" y="2929382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239788" y="2441381"/>
            <a:ext cx="310113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Sharpe Ratio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39788" y="2998441"/>
            <a:ext cx="3325120" cy="1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Return per unit volatility; used for risk-adjusted ranking.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3973" y="4651029"/>
            <a:ext cx="3906593" cy="2302516"/>
            <a:chOff x="0" y="0"/>
            <a:chExt cx="5208791" cy="30700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08778" cy="3070098"/>
            </a:xfrm>
            <a:custGeom>
              <a:avLst/>
              <a:gdLst/>
              <a:ahLst/>
              <a:cxnLst/>
              <a:rect r="r" b="b" t="t" l="l"/>
              <a:pathLst>
                <a:path h="3070098" w="5208778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lnTo>
                    <a:pt x="5068062" y="0"/>
                  </a:lnTo>
                  <a:cubicBezTo>
                    <a:pt x="5145786" y="0"/>
                    <a:pt x="5208778" y="62992"/>
                    <a:pt x="5208778" y="140716"/>
                  </a:cubicBezTo>
                  <a:lnTo>
                    <a:pt x="5208778" y="2929382"/>
                  </a:lnTo>
                  <a:cubicBezTo>
                    <a:pt x="5208778" y="3007106"/>
                    <a:pt x="5145786" y="3070098"/>
                    <a:pt x="5068062" y="3070098"/>
                  </a:cubicBezTo>
                  <a:lnTo>
                    <a:pt x="140716" y="3070098"/>
                  </a:lnTo>
                  <a:cubicBezTo>
                    <a:pt x="62992" y="3069971"/>
                    <a:pt x="0" y="3007106"/>
                    <a:pt x="0" y="2929382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44791" y="4932312"/>
            <a:ext cx="310113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Sortino Ratio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4791" y="5489372"/>
            <a:ext cx="3324968" cy="1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Downside-risk-focused version of Sharpe — penalises negative volatility.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948980" y="4651029"/>
            <a:ext cx="3906736" cy="2302516"/>
            <a:chOff x="0" y="0"/>
            <a:chExt cx="5208981" cy="30700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09032" cy="3070098"/>
            </a:xfrm>
            <a:custGeom>
              <a:avLst/>
              <a:gdLst/>
              <a:ahLst/>
              <a:cxnLst/>
              <a:rect r="r" b="b" t="t" l="l"/>
              <a:pathLst>
                <a:path h="3070098" w="52090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lnTo>
                    <a:pt x="5068316" y="0"/>
                  </a:lnTo>
                  <a:cubicBezTo>
                    <a:pt x="5146040" y="0"/>
                    <a:pt x="5209032" y="62992"/>
                    <a:pt x="5209032" y="140716"/>
                  </a:cubicBezTo>
                  <a:lnTo>
                    <a:pt x="5209032" y="2929382"/>
                  </a:lnTo>
                  <a:cubicBezTo>
                    <a:pt x="5209032" y="3007106"/>
                    <a:pt x="5146040" y="3070098"/>
                    <a:pt x="5068316" y="3070098"/>
                  </a:cubicBezTo>
                  <a:lnTo>
                    <a:pt x="140716" y="3070098"/>
                  </a:lnTo>
                  <a:cubicBezTo>
                    <a:pt x="62992" y="3069971"/>
                    <a:pt x="0" y="3007106"/>
                    <a:pt x="0" y="2929382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5239788" y="4932312"/>
            <a:ext cx="310113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Alpha &amp; Beta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39788" y="5489372"/>
            <a:ext cx="3325120" cy="1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Relative return vs benchmark and systematic risk exposure.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3973" y="7141959"/>
            <a:ext cx="8001743" cy="1930451"/>
            <a:chOff x="0" y="0"/>
            <a:chExt cx="10668991" cy="25739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68888" cy="2573909"/>
            </a:xfrm>
            <a:custGeom>
              <a:avLst/>
              <a:gdLst/>
              <a:ahLst/>
              <a:cxnLst/>
              <a:rect r="r" b="b" t="t" l="l"/>
              <a:pathLst>
                <a:path h="2573909" w="10668888">
                  <a:moveTo>
                    <a:pt x="0" y="140970"/>
                  </a:moveTo>
                  <a:cubicBezTo>
                    <a:pt x="0" y="63119"/>
                    <a:pt x="63119" y="0"/>
                    <a:pt x="140970" y="0"/>
                  </a:cubicBezTo>
                  <a:lnTo>
                    <a:pt x="10527919" y="0"/>
                  </a:lnTo>
                  <a:cubicBezTo>
                    <a:pt x="10605770" y="0"/>
                    <a:pt x="10668888" y="63119"/>
                    <a:pt x="10668888" y="140970"/>
                  </a:cubicBezTo>
                  <a:lnTo>
                    <a:pt x="10668888" y="2432939"/>
                  </a:lnTo>
                  <a:cubicBezTo>
                    <a:pt x="10668888" y="2510790"/>
                    <a:pt x="10605770" y="2573909"/>
                    <a:pt x="10527919" y="2573909"/>
                  </a:cubicBezTo>
                  <a:lnTo>
                    <a:pt x="140970" y="2573909"/>
                  </a:lnTo>
                  <a:cubicBezTo>
                    <a:pt x="63119" y="2573909"/>
                    <a:pt x="0" y="2510790"/>
                    <a:pt x="0" y="2432939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144791" y="7423252"/>
            <a:ext cx="310113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Max Drawdown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4791" y="7980312"/>
            <a:ext cx="7420127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Largest peak-to-trough decline — crucial for downside tolerance.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56096" y="1930451"/>
            <a:ext cx="7973168" cy="4508744"/>
            <a:chOff x="0" y="0"/>
            <a:chExt cx="10630891" cy="6011659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0630916" cy="6011672"/>
            </a:xfrm>
            <a:custGeom>
              <a:avLst/>
              <a:gdLst/>
              <a:ahLst/>
              <a:cxnLst/>
              <a:rect r="r" b="b" t="t" l="l"/>
              <a:pathLst>
                <a:path h="6011672" w="10630916">
                  <a:moveTo>
                    <a:pt x="0" y="0"/>
                  </a:moveTo>
                  <a:lnTo>
                    <a:pt x="10630916" y="0"/>
                  </a:lnTo>
                  <a:lnTo>
                    <a:pt x="10630916" y="6011672"/>
                  </a:lnTo>
                  <a:lnTo>
                    <a:pt x="0" y="6011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" t="0" r="-33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456096" y="6626123"/>
            <a:ext cx="7973168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How metrics help:</a:t>
            </a: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Combine return and risk to prioritise funds that deliver consistent, risk-aware performance rather than raw returns.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56096" y="7671492"/>
            <a:ext cx="7973168" cy="1630556"/>
            <a:chOff x="0" y="0"/>
            <a:chExt cx="10630891" cy="21740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30916" cy="2174113"/>
            </a:xfrm>
            <a:custGeom>
              <a:avLst/>
              <a:gdLst/>
              <a:ahLst/>
              <a:cxnLst/>
              <a:rect r="r" b="b" t="t" l="l"/>
              <a:pathLst>
                <a:path h="2174113" w="10630916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10491978" y="0"/>
                  </a:lnTo>
                  <a:cubicBezTo>
                    <a:pt x="10568686" y="0"/>
                    <a:pt x="10630916" y="62230"/>
                    <a:pt x="10630916" y="138938"/>
                  </a:cubicBezTo>
                  <a:lnTo>
                    <a:pt x="10630916" y="2035175"/>
                  </a:lnTo>
                  <a:cubicBezTo>
                    <a:pt x="10630916" y="2111883"/>
                    <a:pt x="10568686" y="2174113"/>
                    <a:pt x="10491978" y="2174113"/>
                  </a:cubicBezTo>
                  <a:lnTo>
                    <a:pt x="138938" y="2174113"/>
                  </a:lnTo>
                  <a:cubicBezTo>
                    <a:pt x="62230" y="2174113"/>
                    <a:pt x="0" y="2111883"/>
                    <a:pt x="0" y="2035175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04041" y="8040586"/>
            <a:ext cx="310010" cy="247945"/>
            <a:chOff x="0" y="0"/>
            <a:chExt cx="413347" cy="330594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13385" cy="330581"/>
            </a:xfrm>
            <a:custGeom>
              <a:avLst/>
              <a:gdLst/>
              <a:ahLst/>
              <a:cxnLst/>
              <a:rect r="r" b="b" t="t" l="l"/>
              <a:pathLst>
                <a:path h="330581" w="413385">
                  <a:moveTo>
                    <a:pt x="0" y="0"/>
                  </a:moveTo>
                  <a:lnTo>
                    <a:pt x="413385" y="0"/>
                  </a:lnTo>
                  <a:lnTo>
                    <a:pt x="413385" y="330581"/>
                  </a:lnTo>
                  <a:lnTo>
                    <a:pt x="0" y="33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5" t="0" r="-749" b="-3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261997" y="7871517"/>
            <a:ext cx="6919322" cy="1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Speaker note: Briefly explain calculation windows (e.g., rolling 3Y annualised) and data adjustments (annualisation, risk-free rate assumption).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753943"/>
            <a:ext cx="7801566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Advanced Risk Analytics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225851"/>
            <a:ext cx="7805890" cy="4260504"/>
            <a:chOff x="0" y="0"/>
            <a:chExt cx="10407853" cy="56806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07904" cy="5680710"/>
            </a:xfrm>
            <a:custGeom>
              <a:avLst/>
              <a:gdLst/>
              <a:ahLst/>
              <a:cxnLst/>
              <a:rect r="r" b="b" t="t" l="l"/>
              <a:pathLst>
                <a:path h="5680710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5680710"/>
                  </a:lnTo>
                  <a:lnTo>
                    <a:pt x="0" y="5680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" t="0" r="-6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99406" y="4008682"/>
            <a:ext cx="7805890" cy="331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Historical VaR (95%) &amp; CVaR: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Estimate tail losses to quantify extreme downside risk.</a:t>
            </a:r>
          </a:p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Rolling 90-Day Sharpe: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Short-term signal to detect recent performance regime shifts.</a:t>
            </a:r>
          </a:p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Sector Concentration (HHI):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Measure portfolio concentration — higher HHI implies sector risk exposure.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8261" y="862012"/>
            <a:ext cx="13383816" cy="63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Fund Recommendation Engine &amp; Tableau Showcase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68261" y="2070792"/>
            <a:ext cx="7973168" cy="6151664"/>
            <a:chOff x="0" y="0"/>
            <a:chExt cx="10630891" cy="820221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630916" cy="8202168"/>
            </a:xfrm>
            <a:custGeom>
              <a:avLst/>
              <a:gdLst/>
              <a:ahLst/>
              <a:cxnLst/>
              <a:rect r="r" b="b" t="t" l="l"/>
              <a:pathLst>
                <a:path h="8202168" w="10630916">
                  <a:moveTo>
                    <a:pt x="0" y="0"/>
                  </a:moveTo>
                  <a:lnTo>
                    <a:pt x="10630916" y="0"/>
                  </a:lnTo>
                  <a:lnTo>
                    <a:pt x="10630916" y="8202168"/>
                  </a:lnTo>
                  <a:lnTo>
                    <a:pt x="0" y="8202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149366" y="4473607"/>
            <a:ext cx="1390593" cy="128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Fund Recommendation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17347" y="6548361"/>
            <a:ext cx="2068754" cy="64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Scoring &amp; ranking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17347" y="7284272"/>
            <a:ext cx="2068754" cy="47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1"/>
              </a:lnSpc>
            </a:pP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Apply Sharpe &amp; concentration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8597" y="4672336"/>
            <a:ext cx="2113978" cy="327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8597" y="5090274"/>
            <a:ext cx="2113978" cy="47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1"/>
              </a:lnSpc>
            </a:pP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Top N recommended funds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69125" y="6707343"/>
            <a:ext cx="2068754" cy="327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Rules &amp; filters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69125" y="7125281"/>
            <a:ext cx="2068754" cy="47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1"/>
              </a:lnSpc>
            </a:pP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Sharpe threshold, HHI, drawdown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76568" y="4502039"/>
            <a:ext cx="2113978" cy="64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Risk appetite mapping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76568" y="5237950"/>
            <a:ext cx="2113978" cy="47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1"/>
              </a:lnSpc>
            </a:pP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Low, Moderate, High profiles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42363" y="2541222"/>
            <a:ext cx="2125275" cy="327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Input metrics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42363" y="2959170"/>
            <a:ext cx="2125275" cy="47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1"/>
              </a:lnSpc>
            </a:pP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Sharpe, Risk Grade, History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8261" y="8409384"/>
            <a:ext cx="7973168" cy="80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Recommendation logic:</a:t>
            </a: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Score funds on Sharpe, downside metrics and concentration; apply risk-grade filters to match investor profile.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56096" y="3969544"/>
            <a:ext cx="7973168" cy="99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Tableau Dashboard Showcase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Placeholders for project images (insert provided screenshots):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56096" y="5104209"/>
            <a:ext cx="7973168" cy="222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Dashboard screenshot — Total AUM KPI (image placeholder)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SIP Inflow KPI (image placeholder)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Total Folios &amp; Total Schemes KPIs (image placeholder)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AUM Trend Analysis chart (image placeholder)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Top Fund Houses by AUM (image placeholder)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571750" y="574034"/>
            <a:ext cx="5676900" cy="62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Dashboard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71750" y="1852612"/>
            <a:ext cx="13144500" cy="7433072"/>
            <a:chOff x="0" y="0"/>
            <a:chExt cx="17526000" cy="99107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7526000" cy="9910826"/>
            </a:xfrm>
            <a:custGeom>
              <a:avLst/>
              <a:gdLst/>
              <a:ahLst/>
              <a:cxnLst/>
              <a:rect r="r" b="b" t="t" l="l"/>
              <a:pathLst>
                <a:path h="9910826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9910826"/>
                  </a:lnTo>
                  <a:lnTo>
                    <a:pt x="0" y="9910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" t="0" r="-23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DAHMRpjJndI</dc:identifier>
  <dcterms:modified xsi:type="dcterms:W3CDTF">2011-08-01T06:04:30Z</dcterms:modified>
  <cp:revision>1</cp:revision>
  <dc:title>Project_ppt.pptx</dc:title>
</cp:coreProperties>
</file>